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91" r:id="rId3"/>
    <p:sldId id="277" r:id="rId4"/>
    <p:sldId id="278" r:id="rId5"/>
    <p:sldId id="279" r:id="rId6"/>
    <p:sldId id="280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85" r:id="rId26"/>
    <p:sldId id="286" r:id="rId27"/>
    <p:sldId id="287" r:id="rId28"/>
    <p:sldId id="288" r:id="rId29"/>
    <p:sldId id="289" r:id="rId30"/>
    <p:sldId id="290" r:id="rId31"/>
    <p:sldId id="281" r:id="rId32"/>
    <p:sldId id="282" r:id="rId33"/>
    <p:sldId id="28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3635" autoAdjust="0"/>
  </p:normalViewPr>
  <p:slideViewPr>
    <p:cSldViewPr snapToGrid="0">
      <p:cViewPr varScale="1">
        <p:scale>
          <a:sx n="80" d="100"/>
          <a:sy n="80" d="100"/>
        </p:scale>
        <p:origin x="6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8A316-495F-461E-954B-55247F00AF2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1EEB6-5789-4BB1-BF6D-31402981D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50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5D0DC4-7058-4554-A33D-094AB760D842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16C8E-09F6-43A3-B548-A50736072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2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7671-FA2D-4320-B37A-E527972CFE19}" type="datetime1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337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FDAE-7923-4819-A025-A2102ED6E494}" type="datetime1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889F-BF69-4154-A18B-A732522BC20B}" type="datetime1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8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9BC0D-1569-4937-A16E-80C215450CCD}" type="datetime1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9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76732-7412-45F8-8402-949EDA82D41B}" type="datetime1">
              <a:rPr lang="en-US" smtClean="0"/>
              <a:t>11/15/2024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60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5842-ACF5-4E73-B9FF-BE5B26A1EFC1}" type="datetime1">
              <a:rPr lang="en-US" smtClean="0"/>
              <a:t>11/15/2024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68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ACB8B-052D-4441-88A8-CFDB63F9AEEA}" type="datetime1">
              <a:rPr lang="en-US" smtClean="0"/>
              <a:t>11/15/2024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The University of Winnipeg - ACS 2913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31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889EAB4-25AB-44E3-9DDB-D0ED2C07031A}" type="datetime1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The University of Winnipeg - ACS 2913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5CD11F-259D-4E2D-B538-3E742487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9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01B79-6E30-4113-820F-8CC4707E9BC9}" type="datetime1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3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C499-9ABF-4134-8BEF-CAC14E772795}" type="datetime1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95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FD79-5A52-47D3-9561-9F61ADB70B54}" type="datetime1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50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1411552"/>
            <a:ext cx="11176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0" y="6356351"/>
            <a:ext cx="815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74400" y="634673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7A8B3C9-077F-4BB0-9FC6-2E57F3B18D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195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A2A2A39-B0DA-4A06-8638-10ABE5C0B618}" type="datetime1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The University of Winnipeg - ACS 2913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65CD11F-259D-4E2D-B538-3E742487A53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961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br>
              <a:rPr lang="en-US" sz="6000" dirty="0"/>
            </a:br>
            <a:br>
              <a:rPr lang="en-US" sz="6000" dirty="0"/>
            </a:br>
            <a:r>
              <a:rPr lang="en-US" sz="6000" b="1" dirty="0"/>
              <a:t>ACS2913 </a:t>
            </a:r>
            <a:br>
              <a:rPr lang="en-US" sz="6000" b="1" dirty="0"/>
            </a:br>
            <a:r>
              <a:rPr lang="en-US" sz="6000" b="1" dirty="0"/>
              <a:t>Software Requirements Analysis and Design </a:t>
            </a:r>
            <a:br>
              <a:rPr lang="en-US" sz="6000" b="1" dirty="0"/>
            </a:br>
            <a:r>
              <a:rPr lang="en-US" sz="2800" b="1" dirty="0"/>
              <a:t>Instructor: Victor Balogun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Object-Oriented Design with Interaction Diagrams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7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A4C6-5200-410D-A241-A8FCFF735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114969"/>
            <a:ext cx="10058400" cy="283247"/>
          </a:xfrm>
        </p:spPr>
        <p:txBody>
          <a:bodyPr>
            <a:noAutofit/>
          </a:bodyPr>
          <a:lstStyle/>
          <a:p>
            <a:r>
              <a:rPr lang="en-US" sz="2800" b="1" dirty="0"/>
              <a:t>Review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A9118-395C-4BE5-803F-2E791993E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" y="266701"/>
            <a:ext cx="11819164" cy="6193084"/>
          </a:xfrm>
        </p:spPr>
        <p:txBody>
          <a:bodyPr>
            <a:normAutofit fontScale="70000" lnSpcReduction="20000"/>
          </a:bodyPr>
          <a:lstStyle/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400" dirty="0"/>
              <a:t>What is a Sequence Diagram? 3</a:t>
            </a: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400" dirty="0"/>
              <a:t>What are the components of a Sequence Diagram? 4, 5</a:t>
            </a: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100" b="1" kern="50" dirty="0">
                <a:effectLst/>
                <a:latin typeface="Times New Roman" panose="02020603050405020304" pitchFamily="18" charset="0"/>
                <a:ea typeface="AdvOTbc475f09"/>
                <a:cs typeface="AdvOTbc475f09"/>
              </a:rPr>
              <a:t>5. List five elements included in a sequence diagram.</a:t>
            </a: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100" b="1" kern="50" dirty="0">
                <a:effectLst/>
                <a:latin typeface="Times New Roman" panose="02020603050405020304" pitchFamily="18" charset="0"/>
                <a:ea typeface="AdvOTbc475f09"/>
                <a:cs typeface="AdvOTbc475f09"/>
              </a:rPr>
              <a:t>6. How does a sequence diagram differ from an SSD?</a:t>
            </a:r>
            <a:endParaRPr lang="en-US" sz="2100" b="1" kern="50" dirty="0">
              <a:latin typeface="Times New Roman" panose="02020603050405020304" pitchFamily="18" charset="0"/>
              <a:ea typeface="AdvOTbc475f09"/>
              <a:cs typeface="AdvOTbc475f09"/>
            </a:endParaRP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100" b="1" kern="50" dirty="0">
                <a:effectLst/>
                <a:latin typeface="Times New Roman" panose="02020603050405020304" pitchFamily="18" charset="0"/>
                <a:ea typeface="AdvOTbc475f09"/>
                <a:cs typeface="AdvOTbc475f09"/>
              </a:rPr>
              <a:t>7. What is the difference between designing with CRC cards and designing with sequence diagrams?</a:t>
            </a:r>
            <a:endParaRPr lang="en-US" sz="21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100" b="1" kern="50" dirty="0">
                <a:effectLst/>
                <a:latin typeface="Times New Roman" panose="02020603050405020304" pitchFamily="18" charset="0"/>
                <a:ea typeface="AdvOTbc475f09"/>
                <a:cs typeface="AdvOTbc475f09"/>
              </a:rPr>
              <a:t>8. Explain the syntax of a message on a sequence diagram.</a:t>
            </a:r>
            <a:endParaRPr lang="en-US" sz="21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400" dirty="0"/>
              <a:t>What are the step-by-step process of OOD with Sequence Diagrams? 6</a:t>
            </a: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100" b="1" kern="50" dirty="0">
                <a:effectLst/>
                <a:latin typeface="Times New Roman" panose="02020603050405020304" pitchFamily="18" charset="0"/>
                <a:ea typeface="AdvOTbc475f09"/>
                <a:cs typeface="AdvOTbc475f09"/>
              </a:rPr>
              <a:t>13. What assumptions do developers usually make while doing the initial use case realization?</a:t>
            </a:r>
            <a:endParaRPr lang="en-US" sz="21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400" dirty="0"/>
              <a:t>What are the meaning of the following assumptions (</a:t>
            </a:r>
            <a:r>
              <a:rPr lang="en-US" sz="2400" dirty="0" err="1"/>
              <a:t>i</a:t>
            </a:r>
            <a:r>
              <a:rPr lang="en-US" sz="2400" dirty="0"/>
              <a:t>) perfect technology (ii) perfect memory (iii) perfect solution? 15</a:t>
            </a: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400" dirty="0"/>
              <a:t>What is a Multilayer Sequence Diagram? 16</a:t>
            </a: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100" b="1" kern="50" dirty="0">
                <a:effectLst/>
                <a:latin typeface="Times New Roman" panose="02020603050405020304" pitchFamily="18" charset="0"/>
                <a:ea typeface="AdvOTbc475f09"/>
                <a:cs typeface="AdvOTbc475f09"/>
              </a:rPr>
              <a:t>14. When doing multilayer design, what is the order in which layers should be designed? Why?</a:t>
            </a:r>
            <a:endParaRPr lang="en-US" sz="21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400" b="1" dirty="0"/>
              <a:t>What are the two methods of instantiating a new object at the Data Layer? Describe the two methods 20 - 22</a:t>
            </a: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400" dirty="0"/>
              <a:t>What are Class Packages? 25</a:t>
            </a: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400" dirty="0"/>
              <a:t>What are Package Diagrams? 27</a:t>
            </a: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400" b="1" kern="50" dirty="0">
                <a:effectLst/>
                <a:latin typeface="Times New Roman" panose="02020603050405020304" pitchFamily="18" charset="0"/>
                <a:ea typeface="AdvOTbc475f09"/>
                <a:cs typeface="AdvOTbc475f09"/>
              </a:rPr>
              <a:t>20. What is meant by a dependency relationship? How is it indicated on a drawing? 27</a:t>
            </a:r>
            <a:endParaRPr lang="en-US" sz="24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100" b="1" kern="50" dirty="0">
                <a:effectLst/>
                <a:latin typeface="Times New Roman" panose="02020603050405020304" pitchFamily="18" charset="0"/>
                <a:ea typeface="AdvOTbc475f09"/>
                <a:cs typeface="AdvOTbc475f09"/>
              </a:rPr>
              <a:t>15. What is the </a:t>
            </a:r>
            <a:r>
              <a:rPr lang="en-US" sz="2100" b="1" kern="50" dirty="0">
                <a:effectLst/>
                <a:latin typeface="Times New Roman" panose="02020603050405020304" pitchFamily="18" charset="0"/>
                <a:ea typeface="AdvOTbc475f09+20"/>
                <a:cs typeface="AdvOTbc475f09+20"/>
              </a:rPr>
              <a:t>“</a:t>
            </a:r>
            <a:r>
              <a:rPr lang="en-US" sz="2100" b="1" kern="50" dirty="0">
                <a:effectLst/>
                <a:latin typeface="Times New Roman" panose="02020603050405020304" pitchFamily="18" charset="0"/>
                <a:ea typeface="AdvOTbc475f09"/>
                <a:cs typeface="AdvOTbc475f09"/>
              </a:rPr>
              <a:t>separation of responsibilities</a:t>
            </a:r>
            <a:r>
              <a:rPr lang="en-US" sz="2100" b="1" kern="50" dirty="0">
                <a:effectLst/>
                <a:latin typeface="Times New Roman" panose="02020603050405020304" pitchFamily="18" charset="0"/>
                <a:ea typeface="AdvOTbc475f09+20"/>
                <a:cs typeface="AdvOTbc475f09+20"/>
              </a:rPr>
              <a:t>” </a:t>
            </a:r>
            <a:r>
              <a:rPr lang="en-US" sz="2100" b="1" kern="50" dirty="0">
                <a:effectLst/>
                <a:latin typeface="Times New Roman" panose="02020603050405020304" pitchFamily="18" charset="0"/>
                <a:ea typeface="AdvOTbc475f09"/>
                <a:cs typeface="AdvOTbc475f09"/>
              </a:rPr>
              <a:t>principle?</a:t>
            </a:r>
            <a:endParaRPr lang="en-US" sz="21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401638" indent="-401638">
              <a:buClrTx/>
              <a:buFont typeface="Courier New" panose="02070309020205020404" pitchFamily="49" charset="0"/>
              <a:buChar char="o"/>
            </a:pPr>
            <a:r>
              <a:rPr lang="en-US" sz="2400" dirty="0"/>
              <a:t>What are the responsibilities of the individual 3 layers? </a:t>
            </a:r>
            <a:r>
              <a:rPr lang="en-US" sz="2400"/>
              <a:t>29 - 30</a:t>
            </a:r>
            <a:endParaRPr lang="en-US" sz="2400" dirty="0"/>
          </a:p>
          <a:p>
            <a:pPr>
              <a:buClrTx/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ClrTx/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ClrTx/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ClrTx/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0AF17-92BA-4E64-A22A-F7E27A10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AFBE7-22A5-4EBD-87FF-8233B491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30438" y="287339"/>
            <a:ext cx="10058400" cy="736790"/>
          </a:xfrm>
        </p:spPr>
        <p:txBody>
          <a:bodyPr/>
          <a:lstStyle/>
          <a:p>
            <a:r>
              <a:rPr lang="en-CA" b="1" dirty="0"/>
              <a:t>Sequence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33443" y="1159507"/>
            <a:ext cx="11325114" cy="4024312"/>
          </a:xfrm>
        </p:spPr>
        <p:txBody>
          <a:bodyPr>
            <a:normAutofit/>
          </a:bodyPr>
          <a:lstStyle/>
          <a:p>
            <a:r>
              <a:rPr lang="en-CA" sz="2800" dirty="0"/>
              <a:t>UML sequence diagrams that model the flow of logic within a system in a visual manner</a:t>
            </a:r>
          </a:p>
          <a:p>
            <a:r>
              <a:rPr lang="en-US" sz="2800" dirty="0"/>
              <a:t>Sequence diagrams illustrate interactions in a kind of fence format, in which each new object is added to the right</a:t>
            </a:r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623364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3" y="207265"/>
            <a:ext cx="11667744" cy="607223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F412CC-EE15-4FA3-A2D9-AA87688E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81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Sequence Diagrams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68224" y="1737360"/>
            <a:ext cx="11472671" cy="4468368"/>
          </a:xfrm>
        </p:spPr>
        <p:txBody>
          <a:bodyPr>
            <a:normAutofit/>
          </a:bodyPr>
          <a:lstStyle/>
          <a:p>
            <a:r>
              <a:rPr lang="en-US" sz="2800" b="1" dirty="0"/>
              <a:t>Lifeline</a:t>
            </a:r>
          </a:p>
          <a:p>
            <a:pPr lvl="1"/>
            <a:r>
              <a:rPr lang="en-US" sz="2400" dirty="0"/>
              <a:t>The dashed line under the object which serves as an origin point and a destination point for messages</a:t>
            </a:r>
          </a:p>
          <a:p>
            <a:r>
              <a:rPr lang="en-US" sz="2800" b="1" dirty="0"/>
              <a:t>Activation lifeline </a:t>
            </a:r>
          </a:p>
          <a:p>
            <a:pPr lvl="1"/>
            <a:r>
              <a:rPr lang="en-US" sz="2400" dirty="0"/>
              <a:t>The vertical box on a lifeline which indicates the time period when the object is executing based on the message</a:t>
            </a:r>
          </a:p>
          <a:p>
            <a:r>
              <a:rPr lang="en-US" sz="2800" b="1" dirty="0"/>
              <a:t>Messages have origins and destinations</a:t>
            </a:r>
          </a:p>
          <a:p>
            <a:pPr lvl="1"/>
            <a:r>
              <a:rPr lang="en-US" sz="2400" dirty="0"/>
              <a:t>May be on lifeline or on object box</a:t>
            </a:r>
          </a:p>
          <a:p>
            <a:pPr lvl="1"/>
            <a:r>
              <a:rPr lang="en-US" sz="2400" dirty="0"/>
              <a:t>Return values may be dashed message arrow, or on same message</a:t>
            </a:r>
          </a:p>
          <a:p>
            <a:pPr marL="517525" lvl="1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2E323-3A65-4254-940F-E053D5B5F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A8B3C9-077F-4BB0-9FC6-2E57F3B18D7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495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71637"/>
          </a:xfrm>
        </p:spPr>
        <p:txBody>
          <a:bodyPr/>
          <a:lstStyle/>
          <a:p>
            <a:r>
              <a:rPr lang="en-US" dirty="0"/>
              <a:t>OOD with Sequence Diagrams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97408" y="1158240"/>
            <a:ext cx="11391391" cy="582919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Same process as with communication diagrams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Choose a use case</a:t>
            </a:r>
          </a:p>
          <a:p>
            <a:pPr lvl="1"/>
            <a:r>
              <a:rPr lang="en-US" sz="2000" dirty="0"/>
              <a:t>Input models – activity diagram, SSD, classes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Create first-cut DCD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Extend input messages </a:t>
            </a:r>
          </a:p>
          <a:p>
            <a:pPr lvl="1"/>
            <a:r>
              <a:rPr lang="en-US" sz="2000" dirty="0"/>
              <a:t>Add all required internal messages</a:t>
            </a:r>
          </a:p>
          <a:p>
            <a:pPr lvl="1"/>
            <a:r>
              <a:rPr lang="en-US" sz="2000" dirty="0"/>
              <a:t>Origin and destination objects</a:t>
            </a:r>
          </a:p>
          <a:p>
            <a:pPr lvl="1"/>
            <a:r>
              <a:rPr lang="en-US" sz="2000" dirty="0"/>
              <a:t>Elaborate each message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Add other layers as desired (view, data access)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Update DCD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B20F8-A77A-4B47-9994-48146169F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A8B3C9-077F-4BB0-9FC6-2E57F3B18D7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6439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33145" y="272918"/>
            <a:ext cx="4127500" cy="12192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i="1" dirty="0"/>
              <a:t>Fill Shopping Cart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33145" y="2992305"/>
            <a:ext cx="3429000" cy="1957388"/>
          </a:xfrm>
        </p:spPr>
        <p:txBody>
          <a:bodyPr/>
          <a:lstStyle/>
          <a:p>
            <a:r>
              <a:rPr lang="en-US" dirty="0"/>
              <a:t>Input activity diagram</a:t>
            </a:r>
          </a:p>
          <a:p>
            <a:pPr lvl="1"/>
            <a:r>
              <a:rPr lang="en-US" sz="2400" dirty="0"/>
              <a:t>Note the activity flows that cross the system boundary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551" y="0"/>
            <a:ext cx="5017688" cy="631511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B641E-AD0D-4FD6-B7BC-A7E728D8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74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30189"/>
            <a:ext cx="8859140" cy="696403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r>
              <a:rPr lang="en-US" i="1" dirty="0"/>
              <a:t>Fill Shopping Cart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28" y="1771968"/>
            <a:ext cx="3200400" cy="2585323"/>
          </a:xfrm>
        </p:spPr>
        <p:txBody>
          <a:bodyPr/>
          <a:lstStyle/>
          <a:p>
            <a:r>
              <a:rPr lang="en-US" dirty="0"/>
              <a:t>SSD</a:t>
            </a:r>
          </a:p>
          <a:p>
            <a:pPr lvl="1"/>
            <a:r>
              <a:rPr lang="en-US" sz="2400" dirty="0"/>
              <a:t>Note the input and return messages</a:t>
            </a:r>
          </a:p>
          <a:p>
            <a:pPr lvl="1"/>
            <a:r>
              <a:rPr lang="en-US" sz="2400" dirty="0"/>
              <a:t>Note the repeating message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1524000" y="6356351"/>
            <a:ext cx="611505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488" y="1194816"/>
            <a:ext cx="8229584" cy="516153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B13F43-C3A2-42B5-84AE-039FD6DD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12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79349" y="1137251"/>
            <a:ext cx="4127500" cy="12192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i="1" dirty="0"/>
              <a:t>Fill Shopping Cart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28599" y="2984500"/>
            <a:ext cx="3429000" cy="444500"/>
          </a:xfrm>
        </p:spPr>
        <p:txBody>
          <a:bodyPr/>
          <a:lstStyle/>
          <a:p>
            <a:r>
              <a:rPr lang="en-US" dirty="0"/>
              <a:t>First-Cut DCD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36" y="64479"/>
            <a:ext cx="7498081" cy="639530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D88E0-1DB7-4518-828B-185BBA81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2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3185" y="118783"/>
            <a:ext cx="10058400" cy="492951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r>
              <a:rPr lang="en-US" i="1" dirty="0"/>
              <a:t>Fill  Shopping Cart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504202" y="463296"/>
            <a:ext cx="11502639" cy="5106590"/>
          </a:xfrm>
        </p:spPr>
        <p:txBody>
          <a:bodyPr>
            <a:normAutofit/>
          </a:bodyPr>
          <a:lstStyle/>
          <a:p>
            <a:r>
              <a:rPr lang="en-US" sz="2800" dirty="0"/>
              <a:t>First step in </a:t>
            </a:r>
            <a:r>
              <a:rPr lang="en-US" sz="2800" i="1" dirty="0" err="1"/>
              <a:t>addItem</a:t>
            </a:r>
            <a:r>
              <a:rPr lang="en-US" sz="2800" dirty="0"/>
              <a:t> message. Create a cart if first item in the purchase</a:t>
            </a:r>
          </a:p>
          <a:p>
            <a:pPr lvl="1"/>
            <a:r>
              <a:rPr lang="en-US" sz="2400" dirty="0"/>
              <a:t>Note true/false test, two types of return values, named objects, activation lifelines, message origins and destinations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112" y="1792224"/>
            <a:ext cx="9949061" cy="447550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194FD-6472-4950-9E55-E0557875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82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164"/>
            <a:ext cx="6629400" cy="635443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r>
              <a:rPr lang="en-US" i="1" dirty="0"/>
              <a:t>Fill  Shopping Cart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5243" y="255902"/>
            <a:ext cx="4801397" cy="472752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Completion of </a:t>
            </a:r>
            <a:r>
              <a:rPr lang="en-US" sz="2800" i="1" dirty="0" err="1"/>
              <a:t>addItem</a:t>
            </a:r>
            <a:r>
              <a:rPr lang="en-US" sz="2800" dirty="0"/>
              <a:t> message.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672487"/>
            <a:ext cx="10275605" cy="585867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FFE31-A0B2-4D64-84A0-C87A3EA63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80C18-24B8-4FC8-BEC4-6ED65BBA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33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49717"/>
          </a:xfrm>
        </p:spPr>
        <p:txBody>
          <a:bodyPr/>
          <a:lstStyle/>
          <a:p>
            <a:r>
              <a:rPr lang="en-US" dirty="0"/>
              <a:t>Example: </a:t>
            </a:r>
            <a:r>
              <a:rPr lang="en-US" i="1" dirty="0"/>
              <a:t>Fill  Shopping Cart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68096" y="1170432"/>
            <a:ext cx="8711184" cy="4950837"/>
          </a:xfrm>
        </p:spPr>
        <p:txBody>
          <a:bodyPr>
            <a:normAutofit/>
          </a:bodyPr>
          <a:lstStyle/>
          <a:p>
            <a:r>
              <a:rPr lang="en-US" sz="3200" dirty="0"/>
              <a:t>Note origin and destination objects and visibility</a:t>
            </a:r>
          </a:p>
          <a:p>
            <a:pPr lvl="1"/>
            <a:r>
              <a:rPr lang="en-US" sz="2800" dirty="0" err="1"/>
              <a:t>createCart</a:t>
            </a:r>
            <a:r>
              <a:rPr lang="en-US" sz="2800" dirty="0"/>
              <a:t> () – cart handler knows if first item</a:t>
            </a:r>
          </a:p>
          <a:p>
            <a:pPr lvl="1"/>
            <a:r>
              <a:rPr lang="en-US" sz="2800" dirty="0" err="1"/>
              <a:t>aCrt</a:t>
            </a:r>
            <a:r>
              <a:rPr lang="en-US" sz="2800" dirty="0"/>
              <a:t>:=</a:t>
            </a:r>
            <a:r>
              <a:rPr lang="en-US" sz="2800" dirty="0" err="1"/>
              <a:t>createCart</a:t>
            </a:r>
            <a:r>
              <a:rPr lang="en-US" sz="2800" dirty="0"/>
              <a:t>() – customer owns </a:t>
            </a:r>
            <a:r>
              <a:rPr lang="en-US" sz="2800" dirty="0" err="1"/>
              <a:t>onlineCart</a:t>
            </a:r>
            <a:endParaRPr lang="en-US" sz="2800" dirty="0"/>
          </a:p>
          <a:p>
            <a:pPr lvl="1"/>
            <a:r>
              <a:rPr lang="en-US" sz="2800" dirty="0" err="1"/>
              <a:t>addItem</a:t>
            </a:r>
            <a:r>
              <a:rPr lang="en-US" sz="2800" dirty="0"/>
              <a:t>() – forwarded message</a:t>
            </a:r>
          </a:p>
          <a:p>
            <a:pPr lvl="1"/>
            <a:r>
              <a:rPr lang="en-US" sz="2800" dirty="0" err="1"/>
              <a:t>createCartItem</a:t>
            </a:r>
            <a:r>
              <a:rPr lang="en-US" sz="2800" dirty="0"/>
              <a:t>() – </a:t>
            </a:r>
            <a:r>
              <a:rPr lang="en-US" sz="2800" dirty="0" err="1"/>
              <a:t>cartItem</a:t>
            </a:r>
            <a:r>
              <a:rPr lang="en-US" sz="2800" dirty="0"/>
              <a:t> responsible for creating itself and getting values</a:t>
            </a:r>
          </a:p>
          <a:p>
            <a:pPr lvl="1"/>
            <a:r>
              <a:rPr lang="en-US" sz="2800" dirty="0" err="1"/>
              <a:t>getPrice</a:t>
            </a:r>
            <a:r>
              <a:rPr lang="en-US" sz="2800" dirty="0"/>
              <a:t>() – just returns the price</a:t>
            </a:r>
          </a:p>
          <a:p>
            <a:pPr lvl="1"/>
            <a:r>
              <a:rPr lang="en-US" sz="2800" dirty="0" err="1"/>
              <a:t>getDescription</a:t>
            </a:r>
            <a:r>
              <a:rPr lang="en-US" sz="2800" dirty="0"/>
              <a:t>() – just returns description</a:t>
            </a:r>
          </a:p>
          <a:p>
            <a:pPr lvl="1"/>
            <a:r>
              <a:rPr lang="en-US" sz="2800" dirty="0" err="1"/>
              <a:t>updateQty</a:t>
            </a:r>
            <a:r>
              <a:rPr lang="en-US" sz="2800" dirty="0"/>
              <a:t>(</a:t>
            </a:r>
            <a:r>
              <a:rPr lang="en-US" sz="2800" dirty="0" err="1"/>
              <a:t>qty</a:t>
            </a:r>
            <a:r>
              <a:rPr lang="en-US" sz="2800" dirty="0"/>
              <a:t>) – initiates updates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C389A-BDE0-46E1-B5BA-4A98BBDFB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A8B3C9-077F-4BB0-9FC6-2E57F3B18D7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2221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95129"/>
            <a:ext cx="4706112" cy="12192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r>
              <a:rPr lang="en-US" i="1" dirty="0"/>
              <a:t>Fill  Shopping Cart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5908" y="1414329"/>
            <a:ext cx="3093577" cy="1330325"/>
          </a:xfrm>
        </p:spPr>
        <p:txBody>
          <a:bodyPr>
            <a:normAutofit/>
          </a:bodyPr>
          <a:lstStyle/>
          <a:p>
            <a:r>
              <a:rPr lang="en-US" sz="2400" i="1" dirty="0" err="1"/>
              <a:t>addAccesory</a:t>
            </a:r>
            <a:r>
              <a:rPr lang="en-US" sz="2400" i="1" dirty="0"/>
              <a:t> </a:t>
            </a:r>
            <a:r>
              <a:rPr lang="en-US" sz="2400" dirty="0"/>
              <a:t>message (with objects and lifelines)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85" y="33090"/>
            <a:ext cx="8152247" cy="642669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61165-B8E6-424D-96CA-426EF9DE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76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Guidelines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5488" y="2043942"/>
            <a:ext cx="10598912" cy="3405882"/>
          </a:xfrm>
        </p:spPr>
        <p:txBody>
          <a:bodyPr>
            <a:normAutofit/>
          </a:bodyPr>
          <a:lstStyle/>
          <a:p>
            <a:r>
              <a:rPr lang="en-US" sz="3200" dirty="0"/>
              <a:t>From each input message</a:t>
            </a:r>
          </a:p>
          <a:p>
            <a:pPr lvl="1"/>
            <a:r>
              <a:rPr lang="en-US" sz="2800" dirty="0"/>
              <a:t>Determine all internal messages</a:t>
            </a:r>
          </a:p>
          <a:p>
            <a:pPr lvl="1"/>
            <a:r>
              <a:rPr lang="en-US" sz="2800" dirty="0"/>
              <a:t>Determine all objects (from classes) as origins or destinations</a:t>
            </a:r>
          </a:p>
          <a:p>
            <a:pPr lvl="1"/>
            <a:r>
              <a:rPr lang="en-US" sz="2800" dirty="0"/>
              <a:t>Flesh out each message with true/false conditions, parameters and returned values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2A141-C217-4936-979D-FA5EC0644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A8B3C9-077F-4BB0-9FC6-2E57F3B18D7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4779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90144" y="1962912"/>
            <a:ext cx="10936223" cy="4206239"/>
          </a:xfrm>
        </p:spPr>
        <p:txBody>
          <a:bodyPr>
            <a:normAutofit/>
          </a:bodyPr>
          <a:lstStyle/>
          <a:p>
            <a:r>
              <a:rPr lang="en-US" sz="3200" b="1" dirty="0"/>
              <a:t>Perfect technology assumption</a:t>
            </a:r>
          </a:p>
          <a:p>
            <a:pPr lvl="1"/>
            <a:r>
              <a:rPr lang="en-US" sz="2800" dirty="0"/>
              <a:t>No logon or other technical issues</a:t>
            </a:r>
          </a:p>
          <a:p>
            <a:r>
              <a:rPr lang="en-US" sz="3200" b="1" dirty="0"/>
              <a:t>Perfect memory assumption</a:t>
            </a:r>
          </a:p>
          <a:p>
            <a:pPr lvl="1"/>
            <a:r>
              <a:rPr lang="en-US" sz="2800" dirty="0"/>
              <a:t>No need to read or write data</a:t>
            </a:r>
          </a:p>
          <a:p>
            <a:r>
              <a:rPr lang="en-US" sz="3200" b="1" dirty="0"/>
              <a:t>Perfect solution assumption</a:t>
            </a:r>
          </a:p>
          <a:p>
            <a:pPr lvl="1"/>
            <a:r>
              <a:rPr lang="en-US" sz="2800" dirty="0"/>
              <a:t>No exception conditions, no error handling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103EC-2F76-4CD9-85F8-8C176A683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A8B3C9-077F-4BB0-9FC6-2E57F3B18D7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9849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8485"/>
          </a:xfrm>
        </p:spPr>
        <p:txBody>
          <a:bodyPr/>
          <a:lstStyle/>
          <a:p>
            <a:r>
              <a:rPr lang="en-US" b="1" dirty="0"/>
              <a:t>Multilayer Sequence Diagrams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4" y="2180675"/>
            <a:ext cx="9534143" cy="1428083"/>
          </a:xfrm>
        </p:spPr>
        <p:txBody>
          <a:bodyPr>
            <a:normAutofit/>
          </a:bodyPr>
          <a:lstStyle/>
          <a:p>
            <a:r>
              <a:rPr lang="en-US" sz="2800" dirty="0"/>
              <a:t>Add the view layer for </a:t>
            </a:r>
            <a:r>
              <a:rPr lang="en-US" sz="2800" b="1" dirty="0"/>
              <a:t>input screens </a:t>
            </a:r>
            <a:r>
              <a:rPr lang="en-US" sz="2800" dirty="0"/>
              <a:t>to handle input messages</a:t>
            </a:r>
          </a:p>
          <a:p>
            <a:r>
              <a:rPr lang="en-US" sz="2800" dirty="0"/>
              <a:t>Add </a:t>
            </a:r>
            <a:r>
              <a:rPr lang="en-US" sz="2800" b="1" dirty="0"/>
              <a:t>data layer </a:t>
            </a:r>
            <a:r>
              <a:rPr lang="en-US" sz="2800" dirty="0"/>
              <a:t>to read and write the data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C22A8-F485-4163-9019-E8204E3B0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A8B3C9-077F-4BB0-9FC6-2E57F3B18D7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8155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47361" y="500330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View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247361" y="1455205"/>
            <a:ext cx="2629951" cy="824699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Example: </a:t>
            </a:r>
            <a:r>
              <a:rPr lang="en-US" sz="2400" i="1" dirty="0"/>
              <a:t>Add customer account</a:t>
            </a:r>
            <a:r>
              <a:rPr lang="en-US" sz="2400" dirty="0"/>
              <a:t> use case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760" y="33090"/>
            <a:ext cx="8427395" cy="632457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F7F913-1E6C-4DC0-BCDA-87438F63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10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34939" y="230187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View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734939" y="839787"/>
            <a:ext cx="6096000" cy="1328737"/>
          </a:xfrm>
        </p:spPr>
        <p:txBody>
          <a:bodyPr/>
          <a:lstStyle/>
          <a:p>
            <a:r>
              <a:rPr lang="en-US" sz="2400" dirty="0"/>
              <a:t>Partial example: </a:t>
            </a:r>
            <a:r>
              <a:rPr lang="en-US" sz="2400" i="1" dirty="0"/>
              <a:t>Fill shopping cart </a:t>
            </a:r>
            <a:r>
              <a:rPr lang="en-US" sz="2400" dirty="0"/>
              <a:t>use case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85" y="1333105"/>
            <a:ext cx="7543800" cy="463336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6653B-D567-4364-BE4B-F0E7F319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08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79388"/>
            <a:ext cx="8382000" cy="461962"/>
          </a:xfrm>
        </p:spPr>
        <p:txBody>
          <a:bodyPr>
            <a:normAutofit fontScale="90000"/>
          </a:bodyPr>
          <a:lstStyle/>
          <a:p>
            <a:r>
              <a:rPr lang="en-US" dirty="0"/>
              <a:t>Data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7597775" y="217488"/>
            <a:ext cx="4594225" cy="63182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Data layer for reading or updating existing persistent objects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562" y="641350"/>
            <a:ext cx="8071891" cy="561047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E0DCA-4BDD-40FA-91C0-A8E85840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79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58426"/>
          </a:xfrm>
        </p:spPr>
        <p:txBody>
          <a:bodyPr/>
          <a:lstStyle/>
          <a:p>
            <a:r>
              <a:rPr lang="en-US" b="1" dirty="0"/>
              <a:t>Data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2926" y="1819469"/>
            <a:ext cx="11620886" cy="409422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Data Access to instantiate a new object </a:t>
            </a:r>
            <a:r>
              <a:rPr lang="en-US" sz="3600" dirty="0"/>
              <a:t>– </a:t>
            </a:r>
            <a:r>
              <a:rPr lang="en-US" sz="3600" b="1" dirty="0"/>
              <a:t>Two methods</a:t>
            </a:r>
          </a:p>
          <a:p>
            <a:pPr lvl="1"/>
            <a:r>
              <a:rPr lang="en-US" sz="3200" dirty="0"/>
              <a:t>Instantiate the object in memory, the object invokes the data access to get any required persistent data</a:t>
            </a:r>
          </a:p>
          <a:p>
            <a:pPr lvl="1"/>
            <a:r>
              <a:rPr lang="en-US" sz="3200" dirty="0"/>
              <a:t>Send a message to the data access object, and it obtains the required persistent data and then instantiates the new object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B8A37-43BF-4A90-846F-5026D8F4F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A8B3C9-077F-4BB0-9FC6-2E57F3B18D7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737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368" y="168151"/>
            <a:ext cx="10058400" cy="916964"/>
          </a:xfrm>
        </p:spPr>
        <p:txBody>
          <a:bodyPr/>
          <a:lstStyle/>
          <a:p>
            <a:r>
              <a:rPr lang="en-US" dirty="0"/>
              <a:t>Instantiating a New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3149" y="1133836"/>
            <a:ext cx="8382000" cy="387798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Method 1. The instantiated object gets the data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1524000" y="6356351"/>
            <a:ext cx="6115050" cy="365125"/>
          </a:xfrm>
          <a:prstGeom prst="rect">
            <a:avLst/>
          </a:prstGeom>
        </p:spPr>
        <p:txBody>
          <a:bodyPr/>
          <a:lstStyle/>
          <a:p>
            <a:r>
              <a:rPr lang="en-US" sz="1400"/>
              <a:t>The University of Winnipeg - ACS 2913 </a:t>
            </a:r>
            <a:endParaRPr lang="en-US" sz="1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42" y="2156186"/>
            <a:ext cx="8082359" cy="349258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A4445-0E14-45C2-8FA3-BD16F680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85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Instantiating a New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88350"/>
            <a:ext cx="8382000" cy="775597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Method 2. The data access gets the data and instantiates the object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1524000" y="6356351"/>
            <a:ext cx="6115050" cy="365125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The University of Winnipeg - ACS 2913 </a:t>
            </a:r>
            <a:endParaRPr lang="en-US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349" y="2747367"/>
            <a:ext cx="7741374" cy="339705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F4C15-AE48-4EF7-BA35-426608C3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19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30188"/>
            <a:ext cx="8382000" cy="554037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Partial Fill shopping cart with Data Access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1" y="838199"/>
            <a:ext cx="9362133" cy="551987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FF9383-2671-430E-9083-05E95ACF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6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2071" y="193334"/>
            <a:ext cx="10058400" cy="1449387"/>
          </a:xfrm>
        </p:spPr>
        <p:txBody>
          <a:bodyPr/>
          <a:lstStyle/>
          <a:p>
            <a:r>
              <a:rPr lang="en-US" dirty="0"/>
              <a:t>Updated DCD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118" y="67655"/>
            <a:ext cx="5571353" cy="63075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7EA121-E68F-45AE-8F41-9407C3AB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01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878" y="286603"/>
            <a:ext cx="10735802" cy="70230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Class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184" y="1845734"/>
            <a:ext cx="11472672" cy="402336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package</a:t>
            </a:r>
            <a:r>
              <a:rPr lang="en-US" sz="2800" dirty="0"/>
              <a:t> is a namespace </a:t>
            </a:r>
            <a:r>
              <a:rPr lang="en-US" sz="2800" b="1" dirty="0"/>
              <a:t>that organizes a set of related classes and interfaces</a:t>
            </a:r>
            <a:r>
              <a:rPr lang="en-US" sz="2800" dirty="0"/>
              <a:t>. </a:t>
            </a:r>
          </a:p>
          <a:p>
            <a:r>
              <a:rPr lang="en-US" sz="2800" dirty="0"/>
              <a:t>Conceptually you can think of packages as being similar to different folders on your computer. </a:t>
            </a:r>
          </a:p>
          <a:p>
            <a:r>
              <a:rPr lang="en-US" sz="2800" dirty="0"/>
              <a:t>You might keep HTML pages in one folder, images in another, and scripts or applications in yet another. </a:t>
            </a:r>
          </a:p>
          <a:p>
            <a:r>
              <a:rPr lang="en-US" sz="2800" dirty="0"/>
              <a:t>Because software written can be composed of hundreds or thousands of individual classes, it makes sense to keep things organized by placing related classes and interfaces into packages.</a:t>
            </a:r>
          </a:p>
          <a:p>
            <a:r>
              <a:rPr lang="en-US" sz="2800" dirty="0"/>
              <a:t>OO Programming languages such as Java, </a:t>
            </a:r>
            <a:r>
              <a:rPr lang="en-US" sz="2800" dirty="0" err="1"/>
              <a:t>.net</a:t>
            </a:r>
            <a:r>
              <a:rPr lang="en-US" sz="2800" dirty="0"/>
              <a:t>, </a:t>
            </a:r>
            <a:r>
              <a:rPr lang="en-US" sz="2800" dirty="0" err="1"/>
              <a:t>etc</a:t>
            </a:r>
            <a:r>
              <a:rPr lang="en-US" sz="2800" dirty="0"/>
              <a:t>, have pre-established Class packages in their APIs.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10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8B3C9-077F-4BB0-9FC6-2E57F3B18D77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7" name="Picture 2" descr="Image result for Java class pack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71" y="897023"/>
            <a:ext cx="7153275" cy="440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JAVA PACKAGES&#10;The standard Java classes are organized into packages.&#10;Packages are a way of grouping related classes to avo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746" y="1680518"/>
            <a:ext cx="4196740" cy="315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9D5F70-3366-4FB7-A52E-609FE3FE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</a:p>
        </p:txBody>
      </p:sp>
    </p:spTree>
    <p:extLst>
      <p:ext uri="{BB962C8B-B14F-4D97-AF65-F5344CB8AC3E}">
        <p14:creationId xmlns:p14="http://schemas.microsoft.com/office/powerpoint/2010/main" val="559855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210" y="221150"/>
            <a:ext cx="10058400" cy="767756"/>
          </a:xfrm>
        </p:spPr>
        <p:txBody>
          <a:bodyPr/>
          <a:lstStyle/>
          <a:p>
            <a:r>
              <a:rPr lang="en-US" b="1" dirty="0"/>
              <a:t>Package Diagrams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345233" y="1845734"/>
            <a:ext cx="11691257" cy="4023360"/>
          </a:xfrm>
        </p:spPr>
        <p:txBody>
          <a:bodyPr>
            <a:normAutofit/>
          </a:bodyPr>
          <a:lstStyle/>
          <a:p>
            <a:r>
              <a:rPr lang="en-US" sz="2800" dirty="0"/>
              <a:t>Can be used to define formal packages such as subsystems</a:t>
            </a:r>
          </a:p>
          <a:p>
            <a:r>
              <a:rPr lang="en-US" sz="2800" dirty="0"/>
              <a:t>Can be </a:t>
            </a:r>
            <a:r>
              <a:rPr lang="en-US" sz="2800" b="1" dirty="0"/>
              <a:t>used informally to group classes together for understanding</a:t>
            </a:r>
          </a:p>
          <a:p>
            <a:r>
              <a:rPr lang="en-US" sz="2800" b="1" dirty="0"/>
              <a:t>Dependency relationship</a:t>
            </a:r>
          </a:p>
          <a:p>
            <a:pPr lvl="1"/>
            <a:r>
              <a:rPr lang="en-US" sz="2400" dirty="0"/>
              <a:t>A </a:t>
            </a:r>
            <a:r>
              <a:rPr lang="en-US" sz="2400" b="1" dirty="0"/>
              <a:t>relationship between packages or classes within a package in which a change of the independent component may require a change in the dependent component.</a:t>
            </a:r>
            <a:r>
              <a:rPr lang="en-US" sz="2400" dirty="0"/>
              <a:t> Indicated by</a:t>
            </a:r>
            <a:r>
              <a:rPr lang="en-US" sz="2400" b="1" dirty="0"/>
              <a:t> dashed line</a:t>
            </a:r>
            <a:r>
              <a:rPr lang="en-US" sz="2400" dirty="0"/>
              <a:t>.  Read in the direction of the arrow, i.e. A</a:t>
            </a:r>
            <a:r>
              <a:rPr lang="en-US" sz="2400" dirty="0">
                <a:sym typeface="Wingdings" panose="05000000000000000000" pitchFamily="2" charset="2"/>
              </a:rPr>
              <a:t>B is A depends on B.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B7D06-BFE1-47AD-8AA3-64592C46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24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Diagram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097280" y="2023962"/>
            <a:ext cx="3657600" cy="3853363"/>
          </a:xfrm>
        </p:spPr>
        <p:txBody>
          <a:bodyPr/>
          <a:lstStyle/>
          <a:p>
            <a:r>
              <a:rPr lang="en-US" sz="2800" dirty="0"/>
              <a:t>Three-layer package diagram of classes </a:t>
            </a:r>
          </a:p>
          <a:p>
            <a:r>
              <a:rPr lang="en-US" sz="2800" dirty="0"/>
              <a:t>Dependencies</a:t>
            </a:r>
          </a:p>
          <a:p>
            <a:pPr lvl="1"/>
            <a:r>
              <a:rPr lang="en-US" sz="2400" dirty="0"/>
              <a:t>View layer depends on Data Access layer</a:t>
            </a:r>
          </a:p>
          <a:p>
            <a:pPr lvl="1"/>
            <a:r>
              <a:rPr lang="en-US" sz="2400" dirty="0" err="1"/>
              <a:t>SearchItemWindow</a:t>
            </a:r>
            <a:r>
              <a:rPr lang="en-US" sz="2400" dirty="0"/>
              <a:t> depends on </a:t>
            </a:r>
            <a:r>
              <a:rPr lang="en-US" sz="2400" dirty="0" err="1"/>
              <a:t>ProductItem</a:t>
            </a:r>
            <a:endParaRPr lang="en-US" sz="2400" dirty="0"/>
          </a:p>
          <a:p>
            <a:pPr lvl="1"/>
            <a:r>
              <a:rPr lang="en-US" sz="2400" dirty="0"/>
              <a:t>etc.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The University of Winnipeg - ACS 2913 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256" y="1"/>
            <a:ext cx="5187325" cy="624428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76A0A-A1C5-45E8-87E3-8CC12EC9C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A8B3C9-077F-4BB0-9FC6-2E57F3B18D7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2792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0621" y="501179"/>
            <a:ext cx="9839026" cy="815557"/>
          </a:xfrm>
        </p:spPr>
        <p:txBody>
          <a:bodyPr>
            <a:normAutofit/>
          </a:bodyPr>
          <a:lstStyle/>
          <a:p>
            <a:r>
              <a:rPr lang="en-US" altLang="en-US" b="1" dirty="0"/>
              <a:t>Implementation Issues - </a:t>
            </a:r>
            <a:r>
              <a:rPr lang="en-US" altLang="en-US" sz="2800" b="1" dirty="0"/>
              <a:t>Three Layer Design</a:t>
            </a:r>
          </a:p>
        </p:txBody>
      </p:sp>
      <p:sp>
        <p:nvSpPr>
          <p:cNvPr id="457731" name="Rectangle 3"/>
          <p:cNvSpPr>
            <a:spLocks noGrp="1" noChangeArrowheads="1"/>
          </p:cNvSpPr>
          <p:nvPr>
            <p:ph idx="1"/>
          </p:nvPr>
        </p:nvSpPr>
        <p:spPr>
          <a:xfrm>
            <a:off x="390144" y="1816608"/>
            <a:ext cx="10509503" cy="5041392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View Layer Class Responsibilities</a:t>
            </a:r>
          </a:p>
          <a:p>
            <a:pPr lvl="1"/>
            <a:r>
              <a:rPr lang="en-GB" altLang="en-US" sz="2400" dirty="0"/>
              <a:t>Display electronic forms and reports.</a:t>
            </a:r>
          </a:p>
          <a:p>
            <a:pPr lvl="1"/>
            <a:r>
              <a:rPr lang="en-GB" altLang="en-US" sz="2400" dirty="0"/>
              <a:t>Capture such input events as clicks, rollovers, and key entries.</a:t>
            </a:r>
          </a:p>
          <a:p>
            <a:pPr lvl="1"/>
            <a:r>
              <a:rPr lang="en-GB" altLang="en-US" sz="2400" dirty="0"/>
              <a:t>Display data fields.</a:t>
            </a:r>
          </a:p>
          <a:p>
            <a:pPr lvl="1"/>
            <a:r>
              <a:rPr lang="en-GB" altLang="en-US" sz="2400" dirty="0"/>
              <a:t>Accept input data.</a:t>
            </a:r>
          </a:p>
          <a:p>
            <a:pPr lvl="1"/>
            <a:r>
              <a:rPr lang="en-GB" altLang="en-US" sz="2400" dirty="0"/>
              <a:t>Edit and validate input data.</a:t>
            </a:r>
          </a:p>
          <a:p>
            <a:pPr lvl="1"/>
            <a:r>
              <a:rPr lang="en-GB" altLang="en-US" sz="2400" dirty="0"/>
              <a:t>Forward input data to the domain layer classes.</a:t>
            </a:r>
          </a:p>
          <a:p>
            <a:pPr lvl="1"/>
            <a:r>
              <a:rPr lang="en-GB" altLang="en-US" sz="2400" dirty="0"/>
              <a:t>Start and shut down the system.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1524000" y="6248400"/>
            <a:ext cx="5486400" cy="457200"/>
          </a:xfrm>
          <a:prstGeom prst="rect">
            <a:avLst/>
          </a:prstGeom>
        </p:spPr>
        <p:txBody>
          <a:bodyPr/>
          <a:lstStyle/>
          <a:p>
            <a:r>
              <a:rPr lang="en-US" altLang="en-US" sz="1200"/>
              <a:t>The University of Winnipeg - ACS 2913 </a:t>
            </a:r>
            <a:endParaRPr lang="en-US" altLang="en-US" sz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4FE0FE-1B4C-4FA7-830F-AA20BAF9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03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6248" y="476465"/>
            <a:ext cx="10274231" cy="986575"/>
          </a:xfrm>
        </p:spPr>
        <p:txBody>
          <a:bodyPr>
            <a:normAutofit/>
          </a:bodyPr>
          <a:lstStyle/>
          <a:p>
            <a:r>
              <a:rPr lang="en-US" altLang="en-US" b="1" dirty="0"/>
              <a:t>Implementation Issues - </a:t>
            </a:r>
            <a:r>
              <a:rPr lang="en-US" altLang="en-US" sz="2800" b="1" dirty="0"/>
              <a:t>Three Layer Design</a:t>
            </a:r>
          </a:p>
        </p:txBody>
      </p:sp>
      <p:sp>
        <p:nvSpPr>
          <p:cNvPr id="505859" name="Rectangle 3"/>
          <p:cNvSpPr>
            <a:spLocks noGrp="1" noChangeArrowheads="1"/>
          </p:cNvSpPr>
          <p:nvPr>
            <p:ph idx="1"/>
          </p:nvPr>
        </p:nvSpPr>
        <p:spPr>
          <a:xfrm>
            <a:off x="438912" y="1719072"/>
            <a:ext cx="11362943" cy="5138928"/>
          </a:xfrm>
        </p:spPr>
        <p:txBody>
          <a:bodyPr>
            <a:normAutofit/>
          </a:bodyPr>
          <a:lstStyle/>
          <a:p>
            <a:r>
              <a:rPr lang="en-US" altLang="en-US" sz="2800" b="1" dirty="0"/>
              <a:t>Domain Layer Class Responsibilities</a:t>
            </a:r>
          </a:p>
          <a:p>
            <a:pPr lvl="1"/>
            <a:r>
              <a:rPr lang="en-GB" altLang="en-US" sz="2400" dirty="0"/>
              <a:t>Create problem domain (persistent) classes.</a:t>
            </a:r>
          </a:p>
          <a:p>
            <a:pPr lvl="1"/>
            <a:r>
              <a:rPr lang="en-GB" altLang="en-US" sz="2400" dirty="0"/>
              <a:t>Process all business rules with appropriate logic.</a:t>
            </a:r>
          </a:p>
          <a:p>
            <a:pPr lvl="1"/>
            <a:r>
              <a:rPr lang="en-GB" altLang="en-US" sz="2400" dirty="0"/>
              <a:t>Prepare persistent classes for storage to the database.</a:t>
            </a:r>
          </a:p>
          <a:p>
            <a:r>
              <a:rPr lang="en-GB" altLang="en-US" sz="2800" b="1" dirty="0"/>
              <a:t>Data Access Layer Class Responsibilities</a:t>
            </a:r>
          </a:p>
          <a:p>
            <a:pPr lvl="1"/>
            <a:r>
              <a:rPr lang="en-GB" altLang="en-US" sz="2400" dirty="0"/>
              <a:t>Establish and maintain connections to the database.</a:t>
            </a:r>
          </a:p>
          <a:p>
            <a:pPr lvl="1"/>
            <a:r>
              <a:rPr lang="en-GB" altLang="en-US" sz="2400" dirty="0"/>
              <a:t>Contain all SQL statements.</a:t>
            </a:r>
          </a:p>
          <a:p>
            <a:pPr lvl="1"/>
            <a:r>
              <a:rPr lang="en-GB" altLang="en-US" sz="2400" dirty="0"/>
              <a:t>Process result sets (the results of SQL executions) into appropriate domain objects.</a:t>
            </a:r>
          </a:p>
          <a:p>
            <a:pPr lvl="1"/>
            <a:r>
              <a:rPr lang="en-GB" altLang="en-US" sz="2400" dirty="0"/>
              <a:t>Disconnect gracefully from the database.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1540476" y="6400800"/>
            <a:ext cx="5486400" cy="457200"/>
          </a:xfrm>
          <a:prstGeom prst="rect">
            <a:avLst/>
          </a:prstGeom>
        </p:spPr>
        <p:txBody>
          <a:bodyPr/>
          <a:lstStyle/>
          <a:p>
            <a:r>
              <a:rPr lang="en-US" altLang="en-US" sz="1200"/>
              <a:t>The University of Winnipeg - ACS 2913 </a:t>
            </a:r>
            <a:endParaRPr lang="en-US" altLang="en-US" sz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198339-6052-4269-8B90-E0A237490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06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University of Winnipeg - ACS 2913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93704" y="142059"/>
            <a:ext cx="10058400" cy="1449387"/>
          </a:xfrm>
        </p:spPr>
        <p:txBody>
          <a:bodyPr/>
          <a:lstStyle/>
          <a:p>
            <a:r>
              <a:rPr lang="en-US" b="1" dirty="0"/>
              <a:t>OOD - review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589659" y="2816226"/>
            <a:ext cx="3886200" cy="31273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First-cut DCD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Extend use case with Communication Diagram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Final DCD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Package diagram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572" y="0"/>
            <a:ext cx="5618154" cy="635377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31EFE5-D5BC-4D10-A07A-08870BECC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D11F-259D-4E2D-B538-3E742487A5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6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</a:t>
            </a:r>
            <a:endParaRPr lang="en-US" altLang="en-US" sz="2000" dirty="0"/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292608" y="1997076"/>
            <a:ext cx="11484863" cy="4267200"/>
          </a:xfrm>
        </p:spPr>
        <p:txBody>
          <a:bodyPr/>
          <a:lstStyle/>
          <a:p>
            <a:r>
              <a:rPr lang="en-US" altLang="en-US" sz="2400" dirty="0"/>
              <a:t>This chapter went into more detail about use case realization and three layer design to extend the design techniques from last chapter</a:t>
            </a:r>
          </a:p>
          <a:p>
            <a:r>
              <a:rPr lang="en-US" altLang="en-US" sz="2400" dirty="0"/>
              <a:t>Three layer design is an architectural design pattern, part of the movement toward the use of </a:t>
            </a:r>
            <a:r>
              <a:rPr lang="en-US" altLang="en-US" sz="2400" b="1" dirty="0"/>
              <a:t>design principles and patterns</a:t>
            </a:r>
            <a:r>
              <a:rPr lang="en-US" altLang="en-US" sz="2400" dirty="0"/>
              <a:t>. </a:t>
            </a:r>
          </a:p>
          <a:p>
            <a:r>
              <a:rPr lang="en-US" altLang="en-US" sz="2400" dirty="0"/>
              <a:t>Use case realization is the design of a use case, done with a design class diagram and interaction diagrams. Using interaction diagrams allows greater depth and precision than using CRC cards. </a:t>
            </a:r>
          </a:p>
          <a:p>
            <a:r>
              <a:rPr lang="en-US" altLang="en-US" sz="2400" dirty="0"/>
              <a:t>Use case realization proceeds use case by use case (use case driven) and then for each use case, it proceeds layer by layer </a:t>
            </a:r>
          </a:p>
          <a:p>
            <a:pPr marL="0" indent="0">
              <a:buNone/>
            </a:pPr>
            <a:endParaRPr lang="en-GB" altLang="en-US" sz="2800" dirty="0"/>
          </a:p>
          <a:p>
            <a:pPr marL="571500" indent="-571500"/>
            <a:endParaRPr lang="en-GB" altLang="en-US" sz="3200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/>
              <a:t>The University of Winnipeg - ACS 2913 </a:t>
            </a:r>
          </a:p>
        </p:txBody>
      </p:sp>
      <p:sp>
        <p:nvSpPr>
          <p:cNvPr id="413700" name="Rectangle 4"/>
          <p:cNvSpPr>
            <a:spLocks noChangeArrowheads="1"/>
          </p:cNvSpPr>
          <p:nvPr/>
        </p:nvSpPr>
        <p:spPr bwMode="auto">
          <a:xfrm>
            <a:off x="2133600" y="1143000"/>
            <a:ext cx="82296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71500" indent="-5715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39788" indent="-4953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31888" indent="-4381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013" indent="-3810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63700" indent="-3810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1209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781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0353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925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en-GB" altLang="en-US" sz="2400"/>
          </a:p>
        </p:txBody>
      </p:sp>
      <p:sp>
        <p:nvSpPr>
          <p:cNvPr id="413701" name="Rectangle 5"/>
          <p:cNvSpPr>
            <a:spLocks noChangeArrowheads="1"/>
          </p:cNvSpPr>
          <p:nvPr/>
        </p:nvSpPr>
        <p:spPr bwMode="auto">
          <a:xfrm>
            <a:off x="2057400" y="1219200"/>
            <a:ext cx="8001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413702" name="Rectangle 6"/>
          <p:cNvSpPr>
            <a:spLocks noChangeArrowheads="1"/>
          </p:cNvSpPr>
          <p:nvPr/>
        </p:nvSpPr>
        <p:spPr bwMode="auto">
          <a:xfrm>
            <a:off x="1828800" y="1219200"/>
            <a:ext cx="8229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GB" altLang="en-US" sz="3200"/>
          </a:p>
        </p:txBody>
      </p:sp>
      <p:sp>
        <p:nvSpPr>
          <p:cNvPr id="413703" name="Rectangle 7"/>
          <p:cNvSpPr>
            <a:spLocks noChangeArrowheads="1"/>
          </p:cNvSpPr>
          <p:nvPr/>
        </p:nvSpPr>
        <p:spPr bwMode="auto">
          <a:xfrm>
            <a:off x="1981200" y="1066800"/>
            <a:ext cx="7467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6B6044-474A-4247-84A4-46C1C561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A8B3C9-077F-4BB0-9FC6-2E57F3B18D7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03872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932597"/>
          </a:xfrm>
        </p:spPr>
        <p:txBody>
          <a:bodyPr/>
          <a:lstStyle/>
          <a:p>
            <a:r>
              <a:rPr lang="en-US" altLang="en-US" dirty="0"/>
              <a:t>Summary </a:t>
            </a:r>
            <a:r>
              <a:rPr lang="en-US" altLang="en-US" sz="2800" dirty="0"/>
              <a:t>(continued)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203200" y="1767840"/>
            <a:ext cx="11647424" cy="6118962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Starting with the business logic/domain layer, domain classes are selected and an initial design class diagram is drawn. </a:t>
            </a:r>
          </a:p>
          <a:p>
            <a:r>
              <a:rPr lang="en-US" altLang="en-US" sz="2400" dirty="0"/>
              <a:t>The systems sequence diagram (SSD) from analysis is expanded by adding a use case controller and then the domain classes for the use case.</a:t>
            </a:r>
          </a:p>
          <a:p>
            <a:r>
              <a:rPr lang="en-US" altLang="en-US" sz="2400" dirty="0"/>
              <a:t>Messages and returns are added to the interaction diagram as responsibilities are assigned to each class.</a:t>
            </a:r>
          </a:p>
          <a:p>
            <a:r>
              <a:rPr lang="en-US" altLang="en-US" sz="2400" dirty="0"/>
              <a:t>The design class diagram is then updated by adding methods to the classes based on messages they receive and by updating navigation visibility.</a:t>
            </a:r>
          </a:p>
          <a:p>
            <a:r>
              <a:rPr lang="en-US" altLang="en-US" sz="2400" dirty="0"/>
              <a:t>Simple use case might be left with two layers if the domain classes are responsible for database access. More complex systems add a data access layer as a third layer to handle database access</a:t>
            </a:r>
          </a:p>
          <a:p>
            <a:pPr marL="0" indent="0">
              <a:buNone/>
            </a:pPr>
            <a:endParaRPr lang="en-GB" altLang="en-US" sz="2400" dirty="0"/>
          </a:p>
          <a:p>
            <a:pPr marL="571500" indent="-571500"/>
            <a:endParaRPr lang="en-GB" altLang="en-US" sz="280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/>
              <a:t>The University of Winnipeg - ACS 2913 </a:t>
            </a:r>
          </a:p>
        </p:txBody>
      </p:sp>
      <p:sp>
        <p:nvSpPr>
          <p:cNvPr id="342021" name="Rectangle 5"/>
          <p:cNvSpPr>
            <a:spLocks noChangeArrowheads="1"/>
          </p:cNvSpPr>
          <p:nvPr/>
        </p:nvSpPr>
        <p:spPr bwMode="auto">
          <a:xfrm>
            <a:off x="2057400" y="1219200"/>
            <a:ext cx="8001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C6E876-C70E-495F-ACF6-5356C1FB4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A8B3C9-077F-4BB0-9FC6-2E57F3B18D77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5053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5425</TotalTime>
  <Words>1642</Words>
  <Application>Microsoft Office PowerPoint</Application>
  <PresentationFormat>Widescreen</PresentationFormat>
  <Paragraphs>219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Calibri</vt:lpstr>
      <vt:lpstr>Calibri Light</vt:lpstr>
      <vt:lpstr>Courier New</vt:lpstr>
      <vt:lpstr>Times New Roman</vt:lpstr>
      <vt:lpstr>Wingdings</vt:lpstr>
      <vt:lpstr>Retrospect</vt:lpstr>
      <vt:lpstr>  ACS2913  Software Requirements Analysis and Design  Instructor: Victor Balogun</vt:lpstr>
      <vt:lpstr>Review Questions</vt:lpstr>
      <vt:lpstr>Sequence diagrams</vt:lpstr>
      <vt:lpstr>PowerPoint Presentation</vt:lpstr>
      <vt:lpstr>Understanding Sequence Diagrams</vt:lpstr>
      <vt:lpstr>OOD with Sequence Diagrams</vt:lpstr>
      <vt:lpstr>Example:  Fill Shopping Cart</vt:lpstr>
      <vt:lpstr>Example: Fill Shopping Cart</vt:lpstr>
      <vt:lpstr>Example:  Fill Shopping Cart</vt:lpstr>
      <vt:lpstr>Example: Fill  Shopping Cart</vt:lpstr>
      <vt:lpstr>Example: Fill  Shopping Cart</vt:lpstr>
      <vt:lpstr>Example: Fill  Shopping Cart</vt:lpstr>
      <vt:lpstr>Example: Fill  Shopping Cart</vt:lpstr>
      <vt:lpstr> Guidelines</vt:lpstr>
      <vt:lpstr>Assumptions</vt:lpstr>
      <vt:lpstr>Multilayer Sequence Diagrams</vt:lpstr>
      <vt:lpstr>View Layer</vt:lpstr>
      <vt:lpstr>View Layer</vt:lpstr>
      <vt:lpstr>Data Layer</vt:lpstr>
      <vt:lpstr>Data Layer</vt:lpstr>
      <vt:lpstr>Instantiating a New Object</vt:lpstr>
      <vt:lpstr>Instantiating a New Object</vt:lpstr>
      <vt:lpstr>Partial Fill shopping cart with Data Access</vt:lpstr>
      <vt:lpstr>Updated DCD</vt:lpstr>
      <vt:lpstr>Class packages</vt:lpstr>
      <vt:lpstr>PowerPoint Presentation</vt:lpstr>
      <vt:lpstr>Package Diagrams</vt:lpstr>
      <vt:lpstr>Package Diagram</vt:lpstr>
      <vt:lpstr>Implementation Issues - Three Layer Design</vt:lpstr>
      <vt:lpstr>Implementation Issues - Three Layer Design</vt:lpstr>
      <vt:lpstr>OOD - review</vt:lpstr>
      <vt:lpstr>Summary</vt:lpstr>
      <vt:lpstr>Summary (continued)</vt:lpstr>
    </vt:vector>
  </TitlesOfParts>
  <Company>the University of Winnipeg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ACS2913  Software Requirements Analysis and Design</dc:title>
  <dc:creator>David Tenjo</dc:creator>
  <cp:lastModifiedBy>Victor Balogun</cp:lastModifiedBy>
  <cp:revision>92</cp:revision>
  <dcterms:created xsi:type="dcterms:W3CDTF">2016-08-15T16:29:26Z</dcterms:created>
  <dcterms:modified xsi:type="dcterms:W3CDTF">2024-11-15T20:38:12Z</dcterms:modified>
</cp:coreProperties>
</file>